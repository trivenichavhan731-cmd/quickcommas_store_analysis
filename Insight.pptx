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(₹K)</c:v>
                </c:pt>
              </c:strCache>
            </c:strRef>
          </c:tx>
          <c:spPr>
            <a:solidFill>
              <a:srgbClr val="9B1E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15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6404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D6404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94BB8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S06</c:v>
                  </c:pt>
                  <c:pt idx="1">
                    <c:v>S01</c:v>
                  </c:pt>
                  <c:pt idx="2">
                    <c:v>S02</c:v>
                  </c:pt>
                  <c:pt idx="3">
                    <c:v>S04</c:v>
                  </c:pt>
                  <c:pt idx="4">
                    <c:v>S10</c:v>
                  </c:pt>
                  <c:pt idx="5">
                    <c:v>S08</c:v>
                  </c:pt>
                  <c:pt idx="6">
                    <c:v>S05</c:v>
                  </c:pt>
                  <c:pt idx="7">
                    <c:v>S03</c:v>
                  </c:pt>
                  <c:pt idx="8">
                    <c:v>S07</c:v>
                  </c:pt>
                  <c:pt idx="9">
                    <c:v>S09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582</c:v>
                </c:pt>
                <c:pt idx="1">
                  <c:v>580</c:v>
                </c:pt>
                <c:pt idx="2">
                  <c:v>563</c:v>
                </c:pt>
                <c:pt idx="3">
                  <c:v>539</c:v>
                </c:pt>
                <c:pt idx="4">
                  <c:v>514</c:v>
                </c:pt>
                <c:pt idx="5">
                  <c:v>512</c:v>
                </c:pt>
                <c:pt idx="6">
                  <c:v>450</c:v>
                </c:pt>
                <c:pt idx="7">
                  <c:v>306</c:v>
                </c:pt>
                <c:pt idx="8">
                  <c:v>203</c:v>
                </c:pt>
                <c:pt idx="9">
                  <c:v>175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15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5A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D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5A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%</c:v>
                </c:pt>
              </c:strCache>
            </c:strRef>
          </c:tx>
          <c:spPr>
            <a:solidFill>
              <a:srgbClr val="D6404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15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0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0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S03</c:v>
                  </c:pt>
                  <c:pt idx="1">
                    <c:v>S07</c:v>
                  </c:pt>
                  <c:pt idx="2">
                    <c:v>S01</c:v>
                  </c:pt>
                  <c:pt idx="3">
                    <c:v>S10</c:v>
                  </c:pt>
                  <c:pt idx="4">
                    <c:v>S02</c:v>
                  </c:pt>
                  <c:pt idx="5">
                    <c:v>S05</c:v>
                  </c:pt>
                  <c:pt idx="6">
                    <c:v>S04</c:v>
                  </c:pt>
                  <c:pt idx="7">
                    <c:v>S09</c:v>
                  </c:pt>
                  <c:pt idx="8">
                    <c:v>S08</c:v>
                  </c:pt>
                  <c:pt idx="9">
                    <c:v>S06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9.1</c:v>
                </c:pt>
                <c:pt idx="1">
                  <c:v>9.1</c:v>
                </c:pt>
                <c:pt idx="2">
                  <c:v>4.6</c:v>
                </c:pt>
                <c:pt idx="3">
                  <c:v>4.6</c:v>
                </c:pt>
                <c:pt idx="4">
                  <c:v>4.6</c:v>
                </c:pt>
                <c:pt idx="5">
                  <c:v>4.5</c:v>
                </c:pt>
                <c:pt idx="6">
                  <c:v>4.5</c:v>
                </c:pt>
                <c:pt idx="7">
                  <c:v>4.4</c:v>
                </c:pt>
                <c:pt idx="8">
                  <c:v>4.3</c:v>
                </c:pt>
                <c:pt idx="9">
                  <c:v>4.1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B15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5A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0"/>
        <c:axPos val="b"/>
        <c:majorGridlines>
          <c:spPr>
            <a:ln w="6350" cap="flat">
              <a:solidFill>
                <a:srgbClr val="E6D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5A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FRESH50 discount (₹K)</c:v>
                </c:pt>
              </c:strCache>
            </c:strRef>
          </c:tx>
          <c:spPr>
            <a:solidFill>
              <a:srgbClr val="D640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15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0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0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S07</c:v>
                  </c:pt>
                  <c:pt idx="1">
                    <c:v>S03</c:v>
                  </c:pt>
                  <c:pt idx="2">
                    <c:v>S02</c:v>
                  </c:pt>
                  <c:pt idx="3">
                    <c:v>S01</c:v>
                  </c:pt>
                  <c:pt idx="4">
                    <c:v>S06</c:v>
                  </c:pt>
                  <c:pt idx="5">
                    <c:v>S05</c:v>
                  </c:pt>
                  <c:pt idx="6">
                    <c:v>S10</c:v>
                  </c:pt>
                  <c:pt idx="7">
                    <c:v>S08</c:v>
                  </c:pt>
                  <c:pt idx="8">
                    <c:v>S04</c:v>
                  </c:pt>
                  <c:pt idx="9">
                    <c:v>S09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188</c:v>
                </c:pt>
                <c:pt idx="1">
                  <c:v>184</c:v>
                </c:pt>
                <c:pt idx="2">
                  <c:v>25</c:v>
                </c:pt>
                <c:pt idx="3">
                  <c:v>21</c:v>
                </c:pt>
                <c:pt idx="4">
                  <c:v>19</c:v>
                </c:pt>
                <c:pt idx="5">
                  <c:v>18</c:v>
                </c:pt>
                <c:pt idx="6">
                  <c:v>18</c:v>
                </c:pt>
                <c:pt idx="7">
                  <c:v>16</c:v>
                </c:pt>
                <c:pt idx="8">
                  <c:v>16</c:v>
                </c:pt>
                <c:pt idx="9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15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5A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D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5A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after rent (₹K)</c:v>
                </c:pt>
              </c:strCache>
            </c:strRef>
          </c:tx>
          <c:spPr>
            <a:solidFill>
              <a:srgbClr val="9B1E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15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D64045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S06</c:v>
                  </c:pt>
                  <c:pt idx="1">
                    <c:v>S02</c:v>
                  </c:pt>
                  <c:pt idx="2">
                    <c:v>S01</c:v>
                  </c:pt>
                  <c:pt idx="3">
                    <c:v>S04</c:v>
                  </c:pt>
                  <c:pt idx="4">
                    <c:v>S08</c:v>
                  </c:pt>
                  <c:pt idx="5">
                    <c:v>S10</c:v>
                  </c:pt>
                  <c:pt idx="6">
                    <c:v>S05</c:v>
                  </c:pt>
                  <c:pt idx="7">
                    <c:v>S09</c:v>
                  </c:pt>
                  <c:pt idx="8">
                    <c:v>S03</c:v>
                  </c:pt>
                  <c:pt idx="9">
                    <c:v>S07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360</c:v>
                </c:pt>
                <c:pt idx="1">
                  <c:v>337</c:v>
                </c:pt>
                <c:pt idx="2">
                  <c:v>331</c:v>
                </c:pt>
                <c:pt idx="3">
                  <c:v>326</c:v>
                </c:pt>
                <c:pt idx="4">
                  <c:v>308</c:v>
                </c:pt>
                <c:pt idx="5">
                  <c:v>283</c:v>
                </c:pt>
                <c:pt idx="6">
                  <c:v>196</c:v>
                </c:pt>
                <c:pt idx="7">
                  <c:v>95</c:v>
                </c:pt>
                <c:pt idx="8">
                  <c:v>31</c:v>
                </c:pt>
                <c:pt idx="9">
                  <c:v>-116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15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5A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D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5A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hours</c:v>
                </c:pt>
              </c:strCache>
            </c:strRef>
          </c:tx>
          <c:spPr>
            <a:solidFill>
              <a:srgbClr val="9B1E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15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B1E8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S01</c:v>
                  </c:pt>
                  <c:pt idx="1">
                    <c:v>S02</c:v>
                  </c:pt>
                  <c:pt idx="2">
                    <c:v>S03</c:v>
                  </c:pt>
                  <c:pt idx="3">
                    <c:v>S04</c:v>
                  </c:pt>
                  <c:pt idx="4">
                    <c:v>S05</c:v>
                  </c:pt>
                  <c:pt idx="5">
                    <c:v>S06</c:v>
                  </c:pt>
                  <c:pt idx="6">
                    <c:v>S07</c:v>
                  </c:pt>
                  <c:pt idx="7">
                    <c:v>S08</c:v>
                  </c:pt>
                  <c:pt idx="8">
                    <c:v>S09</c:v>
                  </c:pt>
                  <c:pt idx="9">
                    <c:v>S10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114</c:v>
                </c:pt>
                <c:pt idx="1">
                  <c:v>114</c:v>
                </c:pt>
                <c:pt idx="2">
                  <c:v>114</c:v>
                </c:pt>
                <c:pt idx="3">
                  <c:v>114</c:v>
                </c:pt>
                <c:pt idx="4">
                  <c:v>82</c:v>
                </c:pt>
                <c:pt idx="5">
                  <c:v>114</c:v>
                </c:pt>
                <c:pt idx="6">
                  <c:v>114</c:v>
                </c:pt>
                <c:pt idx="7">
                  <c:v>114</c:v>
                </c:pt>
                <c:pt idx="8">
                  <c:v>114</c:v>
                </c:pt>
                <c:pt idx="9">
                  <c:v>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15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5A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l"/>
        <c:majorGridlines>
          <c:spPr>
            <a:ln w="6350" cap="flat">
              <a:solidFill>
                <a:srgbClr val="E6D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5A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Insights built from the Store Operations dashboard (orders, store master and operating hours).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dashboard's 'Average Profit Margin' card equals average contribution per store (₹4.42L).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5C1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5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5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1"/>
          <p:cNvSpPr/>
          <p:nvPr/>
        </p:nvSpPr>
        <p:spPr>
          <a:xfrm>
            <a:off x="6400800" y="-1097280"/>
            <a:ext cx="4206240" cy="4206240"/>
          </a:xfrm>
          <a:prstGeom prst="ellipse">
            <a:avLst/>
          </a:prstGeom>
          <a:solidFill>
            <a:srgbClr val="9B1E8F">
              <a:alpha val="45000"/>
            </a:srgbClr>
          </a:solidFill>
          <a:ln w="12700">
            <a:solidFill>
              <a:srgbClr val="9B1E8F">
                <a:alpha val="0"/>
              </a:srgbClr>
            </a:solidFill>
            <a:prstDash val="solid"/>
          </a:ln>
        </p:spPr>
      </p:sp>
      <p:sp>
        <p:nvSpPr>
          <p:cNvPr id="3" name="Motif 2"/>
          <p:cNvSpPr/>
          <p:nvPr/>
        </p:nvSpPr>
        <p:spPr>
          <a:xfrm>
            <a:off x="7315200" y="2377440"/>
            <a:ext cx="3108960" cy="3108960"/>
          </a:xfrm>
          <a:prstGeom prst="ellipse">
            <a:avLst/>
          </a:prstGeom>
          <a:solidFill>
            <a:srgbClr val="C94BB8">
              <a:alpha val="30000"/>
            </a:srgbClr>
          </a:solidFill>
          <a:ln w="12700">
            <a:solidFill>
              <a:srgbClr val="C94BB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9C4E5"/>
                </a:solidFill>
              </a:rPr>
              <a:t>STORE OPERATIONS DASHBOARD</a:t>
            </a:r>
            <a:endParaRPr lang="en-US" sz="1400" dirty="0"/>
          </a:p>
        </p:txBody>
      </p:sp>
      <p:sp>
        <p:nvSpPr>
          <p:cNvPr id="5" name="Title"/>
          <p:cNvSpPr txBox="1"/>
          <p:nvPr/>
        </p:nvSpPr>
        <p:spPr>
          <a:xfrm>
            <a:off x="640080" y="15087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Performance Insights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9C4E5"/>
                </a:solidFill>
              </a:rPr>
              <a:t>Which stores make money, and which lose?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14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A3C9"/>
                </a:solidFill>
              </a:rPr>
              <a:t>Lane 1  |  10 Noida dark stores  |  18 May – 28 Jun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1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stores earn; two drag the network down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A73"/>
                </a:solidFill>
              </a:rPr>
              <a:t>Stores S03 and S07 give away margin and still lose customers</a:t>
            </a:r>
            <a:endParaRPr lang="en-US" sz="1400" dirty="0"/>
          </a:p>
        </p:txBody>
      </p:sp>
      <p:sp>
        <p:nvSpPr>
          <p:cNvPr id="4" name="Stat card 1"/>
          <p:cNvSpPr/>
          <p:nvPr/>
        </p:nvSpPr>
        <p:spPr>
          <a:xfrm>
            <a:off x="457200" y="13716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5E9F6"/>
          </a:solidFill>
          <a:ln w="12700">
            <a:solidFill>
              <a:srgbClr val="F5E9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447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B1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₹28.73L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1530"/>
                </a:solidFill>
              </a:rPr>
              <a:t>Avg gross revenue per store</a:t>
            </a:r>
            <a:endParaRPr lang="en-US" sz="1200" dirty="0"/>
          </a:p>
        </p:txBody>
      </p:sp>
      <p:sp>
        <p:nvSpPr>
          <p:cNvPr id="7" name="Stat card 2"/>
          <p:cNvSpPr/>
          <p:nvPr/>
        </p:nvSpPr>
        <p:spPr>
          <a:xfrm>
            <a:off x="2542032" y="13716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5E9F6"/>
          </a:solidFill>
          <a:ln w="12700">
            <a:solidFill>
              <a:srgbClr val="F5E9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42032" y="14447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B1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₹27.16L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633472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1530"/>
                </a:solidFill>
              </a:rPr>
              <a:t>Avg net revenue per store</a:t>
            </a:r>
            <a:endParaRPr lang="en-US" sz="1200" dirty="0"/>
          </a:p>
        </p:txBody>
      </p:sp>
      <p:sp>
        <p:nvSpPr>
          <p:cNvPr id="10" name="Stat card 3"/>
          <p:cNvSpPr/>
          <p:nvPr/>
        </p:nvSpPr>
        <p:spPr>
          <a:xfrm>
            <a:off x="4626864" y="13716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5E9F6"/>
          </a:solidFill>
          <a:ln w="12700">
            <a:solidFill>
              <a:srgbClr val="F5E9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6864" y="14447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B1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₹4.42L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718304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1530"/>
                </a:solidFill>
              </a:rPr>
              <a:t>Avg contribution per store</a:t>
            </a:r>
            <a:endParaRPr lang="en-US" sz="1200" dirty="0"/>
          </a:p>
        </p:txBody>
      </p:sp>
      <p:sp>
        <p:nvSpPr>
          <p:cNvPr id="13" name="Stat card 4"/>
          <p:cNvSpPr/>
          <p:nvPr/>
        </p:nvSpPr>
        <p:spPr>
          <a:xfrm>
            <a:off x="6711696" y="13716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BE4E5"/>
          </a:solidFill>
          <a:ln w="12700">
            <a:solidFill>
              <a:srgbClr val="FBE4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11696" y="14447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40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of 10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803136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1530"/>
                </a:solidFill>
              </a:rPr>
              <a:t>Store loses money after rent (S07)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8346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1530"/>
                </a:solidFill>
              </a:rPr>
              <a:t>Best earners: S06, S01, S02 and S04 each contribute ₹5.4–5.8L in six weeks.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1530"/>
                </a:solidFill>
              </a:rPr>
              <a:t>S03 and S07 run a 9.1% discount rate against ~4.5% elsewhere, driven by the FRESH50 promo.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1530"/>
                </a:solidFill>
              </a:rPr>
              <a:t>After rent, S07 loses about ₹1.16L and S03 barely breaks even (₹0.31L).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1530"/>
                </a:solidFill>
              </a:rPr>
              <a:t>S09 opened 15 June and already earns near the network daily average.</a:t>
            </a:r>
            <a:endParaRPr lang="en-US" sz="1600" dirty="0"/>
          </a:p>
        </p:txBody>
      </p:sp>
      <p:sp>
        <p:nvSpPr>
          <p:cNvPr id="17" name="Source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5A73"/>
                </a:solidFill>
              </a:rPr>
              <a:t>Dashboard KPIs are averages across all 10 stores. Contribution = net revenue – COGS – delivery cost.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5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1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S06, S01 and S02 lead on contribution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A73"/>
                </a:solidFill>
              </a:rPr>
              <a:t>Total contribution by store, ₹ thousand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llout 1"/>
          <p:cNvSpPr/>
          <p:nvPr/>
        </p:nvSpPr>
        <p:spPr>
          <a:xfrm>
            <a:off x="6126480" y="137160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5E9F6"/>
          </a:solidFill>
          <a:ln w="12700">
            <a:solidFill>
              <a:srgbClr val="F5E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63640" y="1444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045"/>
                </a:solidFill>
              </a:rPr>
              <a:t>S07 is last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1737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530"/>
                </a:solidFill>
              </a:rPr>
              <a:t>₹2.03L contribution, 65% below S06, despite ₹31.2L gross sales.</a:t>
            </a:r>
            <a:endParaRPr lang="en-US" sz="1200" dirty="0"/>
          </a:p>
        </p:txBody>
      </p:sp>
      <p:sp>
        <p:nvSpPr>
          <p:cNvPr id="8" name="Callout 2"/>
          <p:cNvSpPr/>
          <p:nvPr/>
        </p:nvSpPr>
        <p:spPr>
          <a:xfrm>
            <a:off x="6126480" y="246888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5E9F6"/>
          </a:solidFill>
          <a:ln w="12700">
            <a:solidFill>
              <a:srgbClr val="F5E9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63640" y="2542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1E8F"/>
                </a:solidFill>
              </a:rPr>
              <a:t>S09 is not weak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530"/>
                </a:solidFill>
              </a:rPr>
              <a:t>Open only 14 days; earns ₹12.5K a day vs ₹13.8K at S01.</a:t>
            </a:r>
            <a:endParaRPr lang="en-US" sz="1200" dirty="0"/>
          </a:p>
        </p:txBody>
      </p:sp>
      <p:sp>
        <p:nvSpPr>
          <p:cNvPr id="11" name="Callout 3"/>
          <p:cNvSpPr/>
          <p:nvPr/>
        </p:nvSpPr>
        <p:spPr>
          <a:xfrm>
            <a:off x="6126480" y="356616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5E9F6"/>
          </a:solidFill>
          <a:ln w="12700">
            <a:solidFill>
              <a:srgbClr val="F5E9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63640" y="3639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045"/>
                </a:solidFill>
              </a:rPr>
              <a:t>S03 lags too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3931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530"/>
                </a:solidFill>
              </a:rPr>
              <a:t>₹3.06L contribution, nearly half of S06 on similar sales.</a:t>
            </a:r>
            <a:endParaRPr lang="en-US" sz="1200" dirty="0"/>
          </a:p>
        </p:txBody>
      </p:sp>
      <p:sp>
        <p:nvSpPr>
          <p:cNvPr id="14" name="Source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5A73"/>
                </a:solidFill>
              </a:rPr>
              <a:t>Source: orders data, 18 May – 28 Jun 2026 (S09 from 15 Jun).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5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1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S03 and S07 discount twice as deeply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A73"/>
                </a:solidFill>
              </a:rPr>
              <a:t>Discount as % of gross amount, by store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035040" y="1371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640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₹2.8L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21488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530"/>
                </a:solidFill>
              </a:rPr>
              <a:t>discount given at each of S03 and S07, about twice the ₹1.2–1.5L at the other full-period stores.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3291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E5A73"/>
                </a:solidFill>
              </a:rPr>
              <a:t>Total Discount By Store on the dashboard shows S07 and S03 at the top for this reason.</a:t>
            </a:r>
            <a:endParaRPr lang="en-US" sz="1200" dirty="0"/>
          </a:p>
        </p:txBody>
      </p:sp>
      <p:sp>
        <p:nvSpPr>
          <p:cNvPr id="8" name="Source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5A73"/>
                </a:solidFill>
              </a:rPr>
              <a:t>Source: orders data; discount_amount / gross_amount.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5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1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FRESH50 drives the S03 and S07 problem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A73"/>
                </a:solidFill>
              </a:rPr>
              <a:t>Same promo, very different usage, plus more returns and late orders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3891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10972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5A73"/>
                </a:solidFill>
              </a:rPr>
              <a:t>FRESH50 discount given, ₹ thousand</a:t>
            </a:r>
            <a:endParaRPr lang="en-US" sz="1100" dirty="0"/>
          </a:p>
        </p:txBody>
      </p:sp>
      <p:graphicFrame>
        <p:nvGraphicFramePr>
          <p:cNvPr id="6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371600"/>
          <a:ext cx="37490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685800"/>
                <a:gridCol w="685800"/>
                <a:gridCol w="1051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S03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S07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Other stores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6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530"/>
                          </a:solidFill>
                        </a:rPr>
                        <a:t>FRESH50 orders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045"/>
                          </a:solidFill>
                        </a:rPr>
                        <a:t>625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045"/>
                          </a:solidFill>
                        </a:rPr>
                        <a:t>639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530"/>
                          </a:solidFill>
                        </a:rPr>
                        <a:t>~38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530"/>
                          </a:solidFill>
                        </a:rPr>
                        <a:t>Return rate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045"/>
                          </a:solidFill>
                        </a:rPr>
                        <a:t>7.9%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045"/>
                          </a:solidFill>
                        </a:rPr>
                        <a:t>14.0%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530"/>
                          </a:solidFill>
                        </a:rPr>
                        <a:t>3.2%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530"/>
                          </a:solidFill>
                        </a:rPr>
                        <a:t>Late deliveries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045"/>
                          </a:solidFill>
                        </a:rPr>
                        <a:t>62%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045"/>
                          </a:solidFill>
                        </a:rPr>
                        <a:t>62%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530"/>
                          </a:solidFill>
                        </a:rPr>
                        <a:t>41%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530"/>
                          </a:solidFill>
                        </a:rPr>
                        <a:t>Gross margin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045"/>
                          </a:solidFill>
                        </a:rPr>
                        <a:t>17.7%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045"/>
                          </a:solidFill>
                        </a:rPr>
                        <a:t>14.2%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1530"/>
                          </a:solidFill>
                        </a:rPr>
                        <a:t>22–23%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937760" y="3520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530"/>
                </a:solidFill>
              </a:rPr>
              <a:t>FRESH50 appears in about 11% of S03 and S07 orders versus under 1% at other stores. Check whether it is a local campaign or being misused.</a:t>
            </a:r>
            <a:endParaRPr lang="en-US" sz="1300" dirty="0"/>
          </a:p>
        </p:txBody>
      </p:sp>
      <p:sp>
        <p:nvSpPr>
          <p:cNvPr id="8" name="Source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5A73"/>
                </a:solidFill>
              </a:rPr>
              <a:t>Source: orders data. 'Other stores' = S01, S02, S04, S05, S06, S08, S10 averages.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5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1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rent, S07 loses money and S03 barely earns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A73"/>
                </a:solidFill>
              </a:rPr>
              <a:t>Contribution minus rent for the period each store traded, ₹ thousand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Verdict 1"/>
          <p:cNvSpPr/>
          <p:nvPr/>
        </p:nvSpPr>
        <p:spPr>
          <a:xfrm>
            <a:off x="5943600" y="13716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5E9F6"/>
          </a:solidFill>
          <a:ln w="12700">
            <a:solidFill>
              <a:srgbClr val="F5E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80760" y="1444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045"/>
                </a:solidFill>
              </a:rPr>
              <a:t>Loses money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530"/>
                </a:solidFill>
              </a:rPr>
              <a:t>S07: −₹1.16L. Highest rent in the network (₹2.28L a month) and the lowest contribution.</a:t>
            </a:r>
            <a:endParaRPr lang="en-US" sz="1200" dirty="0"/>
          </a:p>
        </p:txBody>
      </p:sp>
      <p:sp>
        <p:nvSpPr>
          <p:cNvPr id="8" name="Verdict 2"/>
          <p:cNvSpPr/>
          <p:nvPr/>
        </p:nvSpPr>
        <p:spPr>
          <a:xfrm>
            <a:off x="5943600" y="246888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5E9F6"/>
          </a:solidFill>
          <a:ln w="12700">
            <a:solidFill>
              <a:srgbClr val="F5E9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80760" y="2542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</a:rPr>
              <a:t>At risk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08076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530"/>
                </a:solidFill>
              </a:rPr>
              <a:t>S03: +₹0.31L on ₹1.96L monthly rent. One more bad month turns it negative.</a:t>
            </a:r>
            <a:endParaRPr lang="en-US" sz="1200" dirty="0"/>
          </a:p>
        </p:txBody>
      </p:sp>
      <p:sp>
        <p:nvSpPr>
          <p:cNvPr id="11" name="Verdict 3"/>
          <p:cNvSpPr/>
          <p:nvPr/>
        </p:nvSpPr>
        <p:spPr>
          <a:xfrm>
            <a:off x="5943600" y="356616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5E9F6"/>
          </a:solidFill>
          <a:ln w="12700">
            <a:solidFill>
              <a:srgbClr val="F5E9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80760" y="3639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6E"/>
                </a:solidFill>
              </a:rPr>
              <a:t>Profitable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080760" y="3931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530"/>
                </a:solidFill>
              </a:rPr>
              <a:t>S06, S02, S01, S04 and S08 clear ₹3.1–3.6L after rent.</a:t>
            </a:r>
            <a:endParaRPr lang="en-US" sz="1200" dirty="0"/>
          </a:p>
        </p:txBody>
      </p:sp>
      <p:sp>
        <p:nvSpPr>
          <p:cNvPr id="14" name="Source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5A73"/>
                </a:solidFill>
              </a:rPr>
              <a:t>Rent prorated: monthly rent × days traded ÷ 30 (42 days; S09 14 days). Staff cost not included.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5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1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hours data has gaps at S05 and S10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A73"/>
                </a:solidFill>
              </a:rPr>
              <a:t>Weekly open hours per store from the hours file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Hours note 1"/>
          <p:cNvSpPr/>
          <p:nvPr/>
        </p:nvSpPr>
        <p:spPr>
          <a:xfrm>
            <a:off x="5943600" y="13716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5E9F6"/>
          </a:solidFill>
          <a:ln w="12700">
            <a:solidFill>
              <a:srgbClr val="F5E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80760" y="1444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</a:rPr>
              <a:t>S05: 82 hrs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530"/>
                </a:solidFill>
              </a:rPr>
              <a:t>No Tuesday or Wednesday rows, yet it took 681 and 628 orders on those days.</a:t>
            </a:r>
            <a:endParaRPr lang="en-US" sz="1200" dirty="0"/>
          </a:p>
        </p:txBody>
      </p:sp>
      <p:sp>
        <p:nvSpPr>
          <p:cNvPr id="8" name="Hours note 2"/>
          <p:cNvSpPr/>
          <p:nvPr/>
        </p:nvSpPr>
        <p:spPr>
          <a:xfrm>
            <a:off x="5943600" y="246888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5E9F6"/>
          </a:solidFill>
          <a:ln w="12700">
            <a:solidFill>
              <a:srgbClr val="F5E9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80760" y="2542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</a:rPr>
              <a:t>S10: 97 hrs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08076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530"/>
                </a:solidFill>
              </a:rPr>
              <a:t>No Sunday row, yet Sunday is its busiest day with 873 orders.</a:t>
            </a:r>
            <a:endParaRPr lang="en-US" sz="1200" dirty="0"/>
          </a:p>
        </p:txBody>
      </p:sp>
      <p:sp>
        <p:nvSpPr>
          <p:cNvPr id="11" name="Hours note 3"/>
          <p:cNvSpPr/>
          <p:nvPr/>
        </p:nvSpPr>
        <p:spPr>
          <a:xfrm>
            <a:off x="5943600" y="356616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5E9F6"/>
          </a:solidFill>
          <a:ln w="12700">
            <a:solidFill>
              <a:srgbClr val="F5E9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80760" y="3639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1E8F"/>
                </a:solidFill>
              </a:rPr>
              <a:t>Standard: 114 hrs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080760" y="3931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1530"/>
                </a:solidFill>
              </a:rPr>
              <a:t>Weekdays 07:00–23:00, weekends 06:30–23:30.</a:t>
            </a:r>
            <a:endParaRPr lang="en-US" sz="1200" dirty="0"/>
          </a:p>
        </p:txBody>
      </p:sp>
      <p:sp>
        <p:nvSpPr>
          <p:cNvPr id="14" name="Source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5A73"/>
                </a:solidFill>
              </a:rPr>
              <a:t>Source: store hours file and orders data. Likely missing rows, so confirm before judging S05 and S10 on hours.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5A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7498080" y="-914400"/>
            <a:ext cx="2926080" cy="2926080"/>
          </a:xfrm>
          <a:prstGeom prst="ellipse">
            <a:avLst/>
          </a:prstGeom>
          <a:solidFill>
            <a:srgbClr val="9B1E8F">
              <a:alpha val="40000"/>
            </a:srgbClr>
          </a:solidFill>
          <a:ln w="12700">
            <a:solidFill>
              <a:srgbClr val="9B1E8F">
                <a:alpha val="0"/>
              </a:srgbClr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next</a:t>
            </a:r>
            <a:endParaRPr lang="en-US" sz="2800" dirty="0"/>
          </a:p>
        </p:txBody>
      </p:sp>
      <p:sp>
        <p:nvSpPr>
          <p:cNvPr id="4" name="Number 1"/>
          <p:cNvSpPr/>
          <p:nvPr/>
        </p:nvSpPr>
        <p:spPr>
          <a:xfrm>
            <a:off x="457200" y="1143000"/>
            <a:ext cx="548640" cy="548640"/>
          </a:xfrm>
          <a:prstGeom prst="ellipse">
            <a:avLst/>
          </a:prstGeom>
          <a:solidFill>
            <a:srgbClr val="C94BB8"/>
          </a:solidFill>
          <a:ln w="12700">
            <a:solidFill>
              <a:srgbClr val="C94B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1A63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Cap or end FRESH50 at S03 and S07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447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C4E5"/>
                </a:solidFill>
              </a:rPr>
              <a:t>It costs about ₹1.7L extra at each store compared with peers.</a:t>
            </a:r>
            <a:endParaRPr lang="en-US" sz="1400" dirty="0"/>
          </a:p>
        </p:txBody>
      </p:sp>
      <p:sp>
        <p:nvSpPr>
          <p:cNvPr id="8" name="Number 2"/>
          <p:cNvSpPr/>
          <p:nvPr/>
        </p:nvSpPr>
        <p:spPr>
          <a:xfrm>
            <a:off x="457200" y="2057400"/>
            <a:ext cx="548640" cy="548640"/>
          </a:xfrm>
          <a:prstGeom prst="ellipse">
            <a:avLst/>
          </a:prstGeom>
          <a:solidFill>
            <a:srgbClr val="C94BB8"/>
          </a:solidFill>
          <a:ln w="12700">
            <a:solidFill>
              <a:srgbClr val="C94BB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1A63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Investigate the return and late-delivery spike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3591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C4E5"/>
                </a:solidFill>
              </a:rPr>
              <a:t>Returns of 8% and 14%, and 62% late, point to stock or rider problems.</a:t>
            </a:r>
            <a:endParaRPr lang="en-US" sz="1400" dirty="0"/>
          </a:p>
        </p:txBody>
      </p:sp>
      <p:sp>
        <p:nvSpPr>
          <p:cNvPr id="12" name="Number 3"/>
          <p:cNvSpPr/>
          <p:nvPr/>
        </p:nvSpPr>
        <p:spPr>
          <a:xfrm>
            <a:off x="457200" y="2971800"/>
            <a:ext cx="548640" cy="548640"/>
          </a:xfrm>
          <a:prstGeom prst="ellipse">
            <a:avLst/>
          </a:prstGeom>
          <a:solidFill>
            <a:srgbClr val="C94BB8"/>
          </a:solidFill>
          <a:ln w="12700">
            <a:solidFill>
              <a:srgbClr val="C94BB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1A63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Review S07's lease and cost base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2735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C4E5"/>
                </a:solidFill>
              </a:rPr>
              <a:t>It cannot cover ₹2.28L rent at today's contribution.</a:t>
            </a:r>
            <a:endParaRPr lang="en-US" sz="1400" dirty="0"/>
          </a:p>
        </p:txBody>
      </p:sp>
      <p:sp>
        <p:nvSpPr>
          <p:cNvPr id="16" name="Number 4"/>
          <p:cNvSpPr/>
          <p:nvPr/>
        </p:nvSpPr>
        <p:spPr>
          <a:xfrm>
            <a:off x="457200" y="3886200"/>
            <a:ext cx="548640" cy="548640"/>
          </a:xfrm>
          <a:prstGeom prst="ellipse">
            <a:avLst/>
          </a:prstGeom>
          <a:solidFill>
            <a:srgbClr val="C94BB8"/>
          </a:solidFill>
          <a:ln w="12700">
            <a:solidFill>
              <a:srgbClr val="C94BB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1A63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Fix the hours file for S05 and S10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1879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C4E5"/>
                </a:solidFill>
              </a:rPr>
              <a:t>Add the missing days so hours can be compared with sales.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ore Insights">
  <a:themeElements>
    <a:clrScheme name="Store Insights">
      <a:dk1>
        <a:srgbClr val="2B1530"/>
      </a:dk1>
      <a:lt1>
        <a:srgbClr val="FFFFFF"/>
      </a:lt1>
      <a:dk2>
        <a:srgbClr val="5C1A63"/>
      </a:dk2>
      <a:lt2>
        <a:srgbClr val="F5E9F6"/>
      </a:lt2>
      <a:accent1>
        <a:srgbClr val="9B1E8F"/>
      </a:accent1>
      <a:accent2>
        <a:srgbClr val="C94BB8"/>
      </a:accent2>
      <a:accent3>
        <a:srgbClr val="D9A6D4"/>
      </a:accent3>
      <a:accent4>
        <a:srgbClr val="D64045"/>
      </a:accent4>
      <a:accent5>
        <a:srgbClr val="E8A33D"/>
      </a:accent5>
      <a:accent6>
        <a:srgbClr val="2E8B6E"/>
      </a:accent6>
      <a:hlink>
        <a:srgbClr val="9B1E8F"/>
      </a:hlink>
      <a:folHlink>
        <a:srgbClr val="5C1A63"/>
      </a:folHlink>
    </a:clrScheme>
    <a:fontScheme name="Store Insight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Store Performance Insights</dc:title>
  <dc:subject>PptxGenJS Presentation</dc:subject>
  <dc:creator>PptxGenJS</dc:creator>
  <cp:lastModifiedBy>PptxGenJS</cp:lastModifiedBy>
  <cp:revision>1</cp:revision>
  <dcterms:created xsi:type="dcterms:W3CDTF">2026-10-06T04:45:51Z</dcterms:created>
  <dcterms:modified xsi:type="dcterms:W3CDTF">2026-10-06T04:45:51Z</dcterms:modified>
</cp:coreProperties>
</file>